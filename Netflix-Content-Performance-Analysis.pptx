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Sora Thin"/>
      <p:regular r:id="rId201314"/>
    </p:embeddedFont>
    <p:embeddedFont>
      <p:font typeface="Sora ExtraLight"/>
      <p:regular r:id="rId201315"/>
    </p:embeddedFont>
    <p:embeddedFont>
      <p:font typeface="Sora Medium"/>
      <p:regular r:id="rId201316"/>
    </p:embeddedFont>
    <p:embeddedFont>
      <p:font typeface="Sora Light"/>
      <p:regular r:id="rId201317"/>
    </p:embeddedFont>
    <p:embeddedFont>
      <p:font typeface="Sora"/>
      <p:regular r:id="rId201318"/>
    </p:embeddedFont>
    <p:embeddedFont>
      <p:font typeface="Sora SemiBold"/>
      <p:regular r:id="rId201319"/>
    </p:embeddedFont>
    <p:embeddedFont>
      <p:font typeface="Sora Bold"/>
      <p:regular r:id="rId201320"/>
    </p:embeddedFont>
    <p:embeddedFont>
      <p:font typeface="Sora ExtraBold"/>
      <p:regular r:id="rId2013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2.png"/><Relationship Id="rId5" Type="http://schemas.openxmlformats.org/officeDocument/2006/relationships/image" Target="../media/image-6-3.svg"/><Relationship Id="rId6" Type="http://schemas.openxmlformats.org/officeDocument/2006/relationships/image" Target="../media/image-6-2.png"/><Relationship Id="rId7" Type="http://schemas.openxmlformats.org/officeDocument/2006/relationships/image" Target="../media/image-6-3.svg"/><Relationship Id="rId8" Type="http://schemas.openxmlformats.org/officeDocument/2006/relationships/image" Target="../media/image-6-2.png"/><Relationship Id="rId9" Type="http://schemas.openxmlformats.org/officeDocument/2006/relationships/image" Target="../media/image-6-3.svg"/><Relationship Id="rId10" Type="http://schemas.openxmlformats.org/officeDocument/2006/relationships/image" Target="../media/image-6-2.png"/><Relationship Id="rId11" Type="http://schemas.openxmlformats.org/officeDocument/2006/relationships/image" Target="../media/image-6-3.svg"/><Relationship Id="rId12" Type="http://schemas.openxmlformats.org/officeDocument/2006/relationships/image" Target="../media/image-6-2.png"/><Relationship Id="rId13" Type="http://schemas.openxmlformats.org/officeDocument/2006/relationships/image" Target="../media/image-6-3.svg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2.png"/><Relationship Id="rId5" Type="http://schemas.openxmlformats.org/officeDocument/2006/relationships/image" Target="../media/image-7-3.svg"/><Relationship Id="rId6" Type="http://schemas.openxmlformats.org/officeDocument/2006/relationships/image" Target="../media/image-7-2.png"/><Relationship Id="rId7" Type="http://schemas.openxmlformats.org/officeDocument/2006/relationships/image" Target="../media/image-7-3.svg"/><Relationship Id="rId8" Type="http://schemas.openxmlformats.org/officeDocument/2006/relationships/image" Target="../media/image-7-2.png"/><Relationship Id="rId9" Type="http://schemas.openxmlformats.org/officeDocument/2006/relationships/image" Target="../media/image-7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image" Target="../media/image-9-11.png"/><Relationship Id="rId12" Type="http://schemas.openxmlformats.org/officeDocument/2006/relationships/image" Target="../media/image-9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02943" y="1607493"/>
            <a:ext cx="2338164" cy="205680"/>
          </a:xfrm>
          <a:prstGeom prst="roundRect">
            <a:avLst>
              <a:gd name="adj" fmla="val 22121"/>
            </a:avLst>
          </a:prstGeom>
          <a:solidFill>
            <a:srgbClr val="F9D2D6"/>
          </a:solidFill>
          <a:ln/>
        </p:spPr>
      </p:sp>
      <p:sp>
        <p:nvSpPr>
          <p:cNvPr id="4" name="Text 1"/>
          <p:cNvSpPr/>
          <p:nvPr/>
        </p:nvSpPr>
        <p:spPr>
          <a:xfrm>
            <a:off x="3984129" y="1648048"/>
            <a:ext cx="2632993" cy="124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SKILLINFYTECH IT SOLUTIONS PVT. LTD.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3902943" y="1867272"/>
            <a:ext cx="4767114" cy="890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Netflix Content Performance Analysis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3902943" y="2961233"/>
            <a:ext cx="5224314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 Data Analytics Internship Project · </a:t>
            </a:r>
            <a:pPr algn="l" indent="0" marL="0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Amey Kishor Sawatkar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3902943" y="3330253"/>
            <a:ext cx="1118741" cy="205680"/>
          </a:xfrm>
          <a:prstGeom prst="roundRect">
            <a:avLst>
              <a:gd name="adj" fmla="val 22121"/>
            </a:avLst>
          </a:prstGeom>
          <a:noFill/>
          <a:ln w="4763">
            <a:solidFill>
              <a:srgbClr val="DA1B2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984129" y="3370808"/>
            <a:ext cx="1413570" cy="124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DA1B2E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DATA ANALYTICS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089327" y="3330253"/>
            <a:ext cx="1565523" cy="205680"/>
          </a:xfrm>
          <a:prstGeom prst="roundRect">
            <a:avLst>
              <a:gd name="adj" fmla="val 22121"/>
            </a:avLst>
          </a:prstGeom>
          <a:noFill/>
          <a:ln w="4763">
            <a:solidFill>
              <a:srgbClr val="DA1B2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170512" y="3370808"/>
            <a:ext cx="1860352" cy="124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DA1B2E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PYTHON · SQL · POWER BI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3943" y="431899"/>
            <a:ext cx="995065" cy="157460"/>
          </a:xfrm>
          <a:prstGeom prst="roundRect">
            <a:avLst>
              <a:gd name="adj" fmla="val 22123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536079" y="462930"/>
            <a:ext cx="1327993" cy="95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PROJECT OVERVIEW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473943" y="621060"/>
            <a:ext cx="8196114" cy="340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What This Project Is About</a:t>
            </a:r>
            <a:endParaRPr lang="en-US" sz="2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943" y="1324645"/>
            <a:ext cx="5238973" cy="31433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70538" y="1160413"/>
            <a:ext cx="2704281" cy="170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Introduction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970538" y="1410221"/>
            <a:ext cx="2704281" cy="731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This project applies end-to-end data analytics techniques to Netflix's content library — uncovering trends, patterns, and performance insights from a comprehensive dataset spanning movies and TV shows up to 2025.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970538" y="2221409"/>
            <a:ext cx="2704281" cy="170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Objectives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970538" y="2471217"/>
            <a:ext cx="2704281" cy="12542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2560" indent="-162560">
              <a:lnSpc>
                <a:spcPct val="118000"/>
              </a:lnSpc>
              <a:buSzPct val="100000"/>
              <a:buChar char="•"/>
            </a:pPr>
            <a:r>
              <a:rPr lang="en-US" sz="8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Clean and structure raw Netflix data using Python</a:t>
            </a:r>
            <a:endParaRPr lang="en-US" sz="800" dirty="0"/>
          </a:p>
          <a:p>
            <a:pPr algn="l" marL="162560" indent="-162560">
              <a:lnSpc>
                <a:spcPct val="118000"/>
              </a:lnSpc>
              <a:buSzPct val="100000"/>
              <a:buChar char="•"/>
            </a:pPr>
            <a:r>
              <a:rPr lang="en-US" sz="8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Build a relational database for structured querying</a:t>
            </a:r>
            <a:endParaRPr lang="en-US" sz="800" dirty="0"/>
          </a:p>
          <a:p>
            <a:pPr algn="l" marL="162560" indent="-162560">
              <a:lnSpc>
                <a:spcPct val="118000"/>
              </a:lnSpc>
              <a:buSzPct val="100000"/>
              <a:buChar char="•"/>
            </a:pPr>
            <a:r>
              <a:rPr lang="en-US" sz="8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Derive actionable business insights through SQL analysis</a:t>
            </a:r>
            <a:endParaRPr lang="en-US" sz="800" dirty="0"/>
          </a:p>
          <a:p>
            <a:pPr algn="l" marL="162560" indent="-162560">
              <a:lnSpc>
                <a:spcPct val="118000"/>
              </a:lnSpc>
              <a:buSzPct val="100000"/>
              <a:buChar char="•"/>
            </a:pPr>
            <a:r>
              <a:rPr lang="en-US" sz="8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Visualize findings in an interactive Power BI dashboard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970538" y="3804791"/>
            <a:ext cx="2704281" cy="170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Problem Statement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970538" y="4054599"/>
            <a:ext cx="2704281" cy="58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Netflix's vast content catalog lacks a unified analytical framework. This project bridges that gap by transforming raw data into structured, insight-driven intelligence.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3943" y="372368"/>
            <a:ext cx="641300" cy="102766"/>
          </a:xfrm>
          <a:prstGeom prst="roundRect">
            <a:avLst>
              <a:gd name="adj" fmla="val 22137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514499" y="392609"/>
            <a:ext cx="1017389" cy="62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DATASET OVERVIEW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473943" y="488603"/>
            <a:ext cx="8196114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The Data Behind the Analysis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73943" y="2655615"/>
            <a:ext cx="4015457" cy="111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Dataset: Netflix Movies Detailed up to 2025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73943" y="2800722"/>
            <a:ext cx="4015457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 rich, real-world dataset capturing Netflix's global content catalog — including titles, genres, release years, cast, directors, ratings, and durations. The dataset was cleaned and refined to ensure analytical accuracy.</a:t>
            </a:r>
            <a:endParaRPr lang="en-US" sz="5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59362" y="800026"/>
            <a:ext cx="4015457" cy="4015457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73943" y="4891534"/>
            <a:ext cx="4081165" cy="357634"/>
          </a:xfrm>
          <a:prstGeom prst="roundRect">
            <a:avLst>
              <a:gd name="adj" fmla="val 7951"/>
            </a:avLst>
          </a:prstGeom>
          <a:solidFill>
            <a:srgbClr val="F9D2D6"/>
          </a:solidFill>
          <a:ln w="4763">
            <a:solidFill>
              <a:srgbClr val="DFB8B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6348" y="4963939"/>
            <a:ext cx="3936355" cy="111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16,000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546348" y="5095503"/>
            <a:ext cx="3936355" cy="81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Total Records</a:t>
            </a:r>
            <a:endParaRPr lang="en-US" sz="500" dirty="0"/>
          </a:p>
        </p:txBody>
      </p:sp>
      <p:sp>
        <p:nvSpPr>
          <p:cNvPr id="11" name="Shape 8"/>
          <p:cNvSpPr/>
          <p:nvPr/>
        </p:nvSpPr>
        <p:spPr>
          <a:xfrm>
            <a:off x="4588892" y="4891534"/>
            <a:ext cx="4081165" cy="357634"/>
          </a:xfrm>
          <a:prstGeom prst="roundRect">
            <a:avLst>
              <a:gd name="adj" fmla="val 7951"/>
            </a:avLst>
          </a:prstGeom>
          <a:solidFill>
            <a:srgbClr val="F9D2D6"/>
          </a:solidFill>
          <a:ln w="4763">
            <a:solidFill>
              <a:srgbClr val="DFB8B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61297" y="4963939"/>
            <a:ext cx="3936355" cy="111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17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4661297" y="5095503"/>
            <a:ext cx="3936355" cy="81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Final Columns</a:t>
            </a:r>
            <a:endParaRPr lang="en-US" sz="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3943" y="421556"/>
            <a:ext cx="1347564" cy="176808"/>
          </a:xfrm>
          <a:prstGeom prst="roundRect">
            <a:avLst>
              <a:gd name="adj" fmla="val 22115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543744" y="456456"/>
            <a:ext cx="1665163" cy="107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TOOLS &amp; TECHNOLOGIES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73943" y="638324"/>
            <a:ext cx="8196114" cy="382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The Analytics Stack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73943" y="1170980"/>
            <a:ext cx="8196114" cy="3461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This project leverages a modern, industry-standard toolkit — from data wrangling to visualization — ensuring reproducible and scalable analysis.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3943" y="1629594"/>
            <a:ext cx="232693" cy="2326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73943" y="1987228"/>
            <a:ext cx="4035549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Python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73943" y="2238598"/>
            <a:ext cx="4035549" cy="3461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Core language for data cleaning, transformation, and preprocessing workflows.</a:t>
            </a:r>
            <a:endParaRPr lang="en-US" sz="9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4433" y="1629594"/>
            <a:ext cx="232693" cy="23269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34433" y="1987228"/>
            <a:ext cx="4035623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Pandas &amp; NumPy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634433" y="2238598"/>
            <a:ext cx="4035623" cy="173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Data manipulation, statistical operations, and numerical computing.</a:t>
            </a:r>
            <a:endParaRPr lang="en-US" sz="9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943" y="2784723"/>
            <a:ext cx="232693" cy="23269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73943" y="3142357"/>
            <a:ext cx="4035549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Matplotlib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473943" y="3393728"/>
            <a:ext cx="4035549" cy="173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Exploratory data visualization and chart generation during analysis.</a:t>
            </a:r>
            <a:endParaRPr lang="en-US" sz="9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34433" y="2784723"/>
            <a:ext cx="232693" cy="23269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634433" y="3142357"/>
            <a:ext cx="4035623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MySQL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4634433" y="3393728"/>
            <a:ext cx="4035623" cy="3461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Relational database for structured storage and complex SQL querying.</a:t>
            </a:r>
            <a:endParaRPr lang="en-US" sz="9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3943" y="3939853"/>
            <a:ext cx="232693" cy="232693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73943" y="4297487"/>
            <a:ext cx="4035549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SQL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473943" y="4548857"/>
            <a:ext cx="4035549" cy="173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50+ business queries for trend extraction and content analysis.</a:t>
            </a:r>
            <a:endParaRPr lang="en-US" sz="9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34433" y="3939853"/>
            <a:ext cx="232693" cy="232693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4634433" y="4297487"/>
            <a:ext cx="4035623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Power BI</a:t>
            </a:r>
            <a:endParaRPr lang="en-US" sz="1200" dirty="0"/>
          </a:p>
        </p:txBody>
      </p:sp>
      <p:sp>
        <p:nvSpPr>
          <p:cNvPr id="23" name="Text 15"/>
          <p:cNvSpPr/>
          <p:nvPr/>
        </p:nvSpPr>
        <p:spPr>
          <a:xfrm>
            <a:off x="4634433" y="4548857"/>
            <a:ext cx="4035623" cy="173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Interactive executive dashboard for visual storytelling and reporting.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3943" y="372368"/>
            <a:ext cx="800844" cy="102766"/>
          </a:xfrm>
          <a:prstGeom prst="roundRect">
            <a:avLst>
              <a:gd name="adj" fmla="val 22137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514499" y="392609"/>
            <a:ext cx="1176933" cy="62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PROJECT METHODOLOGY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473943" y="488603"/>
            <a:ext cx="8196114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End-to-End Analytics Workflow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73943" y="762000"/>
            <a:ext cx="8653314" cy="81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 structured six-stage pipeline transforms raw Netflix data into executive-ready business intelligence — each stage building on the last to ensure data integrity and analytical rigor.</a:t>
            </a:r>
            <a:endParaRPr lang="en-US" sz="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943" y="881286"/>
            <a:ext cx="731520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73943" y="5034111"/>
            <a:ext cx="8196114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Each stage was executed sequentially to maintain data integrity — from raw ingestion through Python preprocessing, structured storage in MySQL, analytical querying with SQL, and finally visualization in Power BI — culminating in actionable business insights.</a:t>
            </a:r>
            <a:endParaRPr lang="en-US" sz="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3943" y="417612"/>
            <a:ext cx="920130" cy="164009"/>
          </a:xfrm>
          <a:prstGeom prst="roundRect">
            <a:avLst>
              <a:gd name="adj" fmla="val 22107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538683" y="449982"/>
            <a:ext cx="1247849" cy="99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IMPLEMENTATION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473943" y="616000"/>
            <a:ext cx="8196114" cy="354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Python &amp; MySQL Under the Hood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943" y="1342281"/>
            <a:ext cx="5235327" cy="31411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77310" y="1185863"/>
            <a:ext cx="2697510" cy="177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Python Data Cleaning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17716" y="1465362"/>
            <a:ext cx="161851" cy="16185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27949" y="1460004"/>
            <a:ext cx="2346871" cy="4652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Handled </a:t>
            </a:r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missing values</a:t>
            </a:r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across key columns using imputation and selective removal</a:t>
            </a:r>
            <a:endParaRPr lang="en-US" sz="8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17716" y="2102569"/>
            <a:ext cx="161851" cy="16185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327949" y="2097212"/>
            <a:ext cx="2346871" cy="3101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Removed </a:t>
            </a:r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duplicates</a:t>
            </a:r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and standardized text fields (titles, genres, cast)</a:t>
            </a:r>
            <a:endParaRPr lang="en-US" sz="8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17716" y="2603599"/>
            <a:ext cx="161851" cy="16185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327949" y="2598241"/>
            <a:ext cx="2346871" cy="3101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Converted data types and formatted dates for </a:t>
            </a:r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analytical consistency</a:t>
            </a:r>
            <a:endParaRPr lang="en-US" sz="800" dirty="0"/>
          </a:p>
        </p:txBody>
      </p:sp>
      <p:sp>
        <p:nvSpPr>
          <p:cNvPr id="13" name="Text 7"/>
          <p:cNvSpPr/>
          <p:nvPr/>
        </p:nvSpPr>
        <p:spPr>
          <a:xfrm>
            <a:off x="5977310" y="3023964"/>
            <a:ext cx="2697510" cy="177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MySQL Database Setup</a:t>
            </a:r>
            <a:endParaRPr lang="en-US" sz="11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017716" y="3303463"/>
            <a:ext cx="161851" cy="161851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327949" y="3298106"/>
            <a:ext cx="2346871" cy="3101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Designed a </a:t>
            </a:r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normalized schema</a:t>
            </a:r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with 17 structured columns</a:t>
            </a:r>
            <a:endParaRPr lang="en-US" sz="8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017716" y="3804493"/>
            <a:ext cx="161851" cy="161851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6327949" y="3799136"/>
            <a:ext cx="2346871" cy="3101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Imported cleaned dataset via </a:t>
            </a:r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bulk insert operations</a:t>
            </a:r>
            <a:endParaRPr lang="en-US" sz="80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017716" y="4305523"/>
            <a:ext cx="161851" cy="161851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6327949" y="4300165"/>
            <a:ext cx="2346871" cy="3101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Optimized indexes for </a:t>
            </a:r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fast query execution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3943" y="372368"/>
            <a:ext cx="484659" cy="102766"/>
          </a:xfrm>
          <a:prstGeom prst="roundRect">
            <a:avLst>
              <a:gd name="adj" fmla="val 22137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514499" y="392609"/>
            <a:ext cx="860747" cy="62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SQL ANALYSIS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473943" y="488603"/>
            <a:ext cx="8196114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50 Business Queries. Real Insights.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73943" y="2655615"/>
            <a:ext cx="4015457" cy="111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What We Queried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73943" y="2800722"/>
            <a:ext cx="4015457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 comprehensive suite of SQL queries was developed to extract meaningful patterns from the Netflix dataset — covering content distribution, genre trends, release patterns, and audience ratings.</a:t>
            </a:r>
            <a:endParaRPr lang="en-US" sz="5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59362" y="800026"/>
            <a:ext cx="4015457" cy="4015457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3943" y="4891534"/>
            <a:ext cx="2023690" cy="44841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89211" y="4968701"/>
            <a:ext cx="1831256" cy="111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Business Analysis</a:t>
            </a:r>
            <a:endParaRPr lang="en-US" sz="700" dirty="0"/>
          </a:p>
        </p:txBody>
      </p:sp>
      <p:sp>
        <p:nvSpPr>
          <p:cNvPr id="10" name="Text 6"/>
          <p:cNvSpPr/>
          <p:nvPr/>
        </p:nvSpPr>
        <p:spPr>
          <a:xfrm>
            <a:off x="589211" y="5100265"/>
            <a:ext cx="1831256" cy="81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Content volume by country, type, and year</a:t>
            </a:r>
            <a:endParaRPr lang="en-US" sz="5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31418" y="4891534"/>
            <a:ext cx="2023690" cy="44841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646685" y="4968701"/>
            <a:ext cx="1831256" cy="111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Trend Analysis</a:t>
            </a:r>
            <a:endParaRPr lang="en-US" sz="700" dirty="0"/>
          </a:p>
        </p:txBody>
      </p:sp>
      <p:sp>
        <p:nvSpPr>
          <p:cNvPr id="13" name="Text 8"/>
          <p:cNvSpPr/>
          <p:nvPr/>
        </p:nvSpPr>
        <p:spPr>
          <a:xfrm>
            <a:off x="2646685" y="5100265"/>
            <a:ext cx="1831256" cy="81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Year-over-year release growth and genre shifts</a:t>
            </a:r>
            <a:endParaRPr lang="en-US" sz="5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88892" y="4891534"/>
            <a:ext cx="2023690" cy="44841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704159" y="4968701"/>
            <a:ext cx="1831256" cy="111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Data Extraction</a:t>
            </a:r>
            <a:endParaRPr lang="en-US" sz="700" dirty="0"/>
          </a:p>
        </p:txBody>
      </p:sp>
      <p:sp>
        <p:nvSpPr>
          <p:cNvPr id="16" name="Text 10"/>
          <p:cNvSpPr/>
          <p:nvPr/>
        </p:nvSpPr>
        <p:spPr>
          <a:xfrm>
            <a:off x="4704159" y="5100265"/>
            <a:ext cx="1831256" cy="81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Top directors, cast frequency, rating breakdowns</a:t>
            </a:r>
            <a:endParaRPr lang="en-US" sz="5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46366" y="4891534"/>
            <a:ext cx="2023690" cy="448419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761634" y="4968701"/>
            <a:ext cx="1831256" cy="111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Database Querying</a:t>
            </a:r>
            <a:endParaRPr lang="en-US" sz="700" dirty="0"/>
          </a:p>
        </p:txBody>
      </p:sp>
      <p:sp>
        <p:nvSpPr>
          <p:cNvPr id="19" name="Text 12"/>
          <p:cNvSpPr/>
          <p:nvPr/>
        </p:nvSpPr>
        <p:spPr>
          <a:xfrm>
            <a:off x="6761634" y="5100265"/>
            <a:ext cx="1831256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Joins, aggregations, subqueries, and window functions</a:t>
            </a:r>
            <a:endParaRPr lang="en-US" sz="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3943" y="390227"/>
            <a:ext cx="1463725" cy="205680"/>
          </a:xfrm>
          <a:prstGeom prst="roundRect">
            <a:avLst>
              <a:gd name="adj" fmla="val 22121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555129" y="430783"/>
            <a:ext cx="1758553" cy="124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POWER BI DASHBOARD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3943" y="650007"/>
            <a:ext cx="8196114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Executive Dashboard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73943" y="1298525"/>
            <a:ext cx="8196114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An interactive Power BI dashboard consolidates all analytical findings into a single, executive-ready view — enabling stakeholders to explore Netflix content performance at a glance.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76386" y="1884238"/>
            <a:ext cx="4980608" cy="2868960"/>
          </a:xfrm>
          <a:prstGeom prst="roundRect">
            <a:avLst>
              <a:gd name="adj" fmla="val 3398"/>
            </a:avLst>
          </a:prstGeom>
          <a:solidFill>
            <a:srgbClr val="12121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746" y="2036564"/>
            <a:ext cx="4709889" cy="256430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594598" y="2019598"/>
            <a:ext cx="3080147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Dashboard Features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594598" y="2469059"/>
            <a:ext cx="67642" cy="67642"/>
          </a:xfrm>
          <a:prstGeom prst="ellipse">
            <a:avLst/>
          </a:prstGeom>
          <a:solidFill>
            <a:srgbClr val="DA1B2E"/>
          </a:solidFill>
          <a:ln/>
        </p:spPr>
      </p:sp>
      <p:sp>
        <p:nvSpPr>
          <p:cNvPr id="10" name="Text 7"/>
          <p:cNvSpPr/>
          <p:nvPr/>
        </p:nvSpPr>
        <p:spPr>
          <a:xfrm>
            <a:off x="5797600" y="2394570"/>
            <a:ext cx="2877145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Content volume by </a:t>
            </a:r>
            <a:pPr algn="l" indent="0" marL="0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country and type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594598" y="2956545"/>
            <a:ext cx="67642" cy="67642"/>
          </a:xfrm>
          <a:prstGeom prst="ellipse">
            <a:avLst/>
          </a:prstGeom>
          <a:solidFill>
            <a:srgbClr val="DA1B2E"/>
          </a:solidFill>
          <a:ln/>
        </p:spPr>
      </p:sp>
      <p:sp>
        <p:nvSpPr>
          <p:cNvPr id="12" name="Text 9"/>
          <p:cNvSpPr/>
          <p:nvPr/>
        </p:nvSpPr>
        <p:spPr>
          <a:xfrm>
            <a:off x="5797600" y="2882057"/>
            <a:ext cx="2877145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Release year </a:t>
            </a:r>
            <a:pPr algn="l" indent="0" marL="0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trend visualizations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594598" y="3444032"/>
            <a:ext cx="67642" cy="67642"/>
          </a:xfrm>
          <a:prstGeom prst="ellipse">
            <a:avLst/>
          </a:prstGeom>
          <a:solidFill>
            <a:srgbClr val="DA1B2E"/>
          </a:solidFill>
          <a:ln/>
        </p:spPr>
      </p:sp>
      <p:sp>
        <p:nvSpPr>
          <p:cNvPr id="14" name="Text 11"/>
          <p:cNvSpPr/>
          <p:nvPr/>
        </p:nvSpPr>
        <p:spPr>
          <a:xfrm>
            <a:off x="5797600" y="3369543"/>
            <a:ext cx="2877145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Genre and rating </a:t>
            </a:r>
            <a:pPr algn="l" indent="0" marL="0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distribution charts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594598" y="3931518"/>
            <a:ext cx="67642" cy="67642"/>
          </a:xfrm>
          <a:prstGeom prst="ellipse">
            <a:avLst/>
          </a:prstGeom>
          <a:solidFill>
            <a:srgbClr val="DA1B2E"/>
          </a:solidFill>
          <a:ln/>
        </p:spPr>
      </p:sp>
      <p:sp>
        <p:nvSpPr>
          <p:cNvPr id="16" name="Text 13"/>
          <p:cNvSpPr/>
          <p:nvPr/>
        </p:nvSpPr>
        <p:spPr>
          <a:xfrm>
            <a:off x="5797600" y="3857030"/>
            <a:ext cx="2877145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Interactive </a:t>
            </a:r>
            <a:pPr algn="l" indent="0" marL="0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slicers and filters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594598" y="4419005"/>
            <a:ext cx="67642" cy="67642"/>
          </a:xfrm>
          <a:prstGeom prst="ellipse">
            <a:avLst/>
          </a:prstGeom>
          <a:solidFill>
            <a:srgbClr val="DA1B2E"/>
          </a:solidFill>
          <a:ln/>
        </p:spPr>
      </p:sp>
      <p:sp>
        <p:nvSpPr>
          <p:cNvPr id="18" name="Text 15"/>
          <p:cNvSpPr/>
          <p:nvPr/>
        </p:nvSpPr>
        <p:spPr>
          <a:xfrm>
            <a:off x="5797600" y="4344516"/>
            <a:ext cx="2877145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Executive </a:t>
            </a:r>
            <a:pPr algn="l" indent="0" marL="0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KPI summary cards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3943" y="414114"/>
            <a:ext cx="1516187" cy="202481"/>
          </a:xfrm>
          <a:prstGeom prst="roundRect">
            <a:avLst>
              <a:gd name="adj" fmla="val 22120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553864" y="454075"/>
            <a:ext cx="1813545" cy="122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KEY BUSINESS INSIGHTS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73943" y="669057"/>
            <a:ext cx="8196114" cy="438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What the Data Revealed</a:t>
            </a:r>
            <a:endParaRPr lang="en-US" sz="2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3943" y="1327547"/>
            <a:ext cx="199876" cy="1998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5011" y="1333351"/>
            <a:ext cx="3684984" cy="43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United States Dominates Content Production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05011" y="1850454"/>
            <a:ext cx="3684984" cy="423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U.S. accounts for the largest share of Netflix titles, reflecting its role as the primary content hub.</a:t>
            </a:r>
            <a:endParaRPr lang="en-US" sz="10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54004" y="1327547"/>
            <a:ext cx="199876" cy="19987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985072" y="1333351"/>
            <a:ext cx="3684984" cy="219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Movies Outnumber TV Shows 3:1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4985072" y="1631231"/>
            <a:ext cx="3684984" cy="423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Movies represent approximately 70% of the catalog, with TV shows growing steadily in recent years.</a:t>
            </a:r>
            <a:endParaRPr lang="en-US" sz="10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943" y="2559248"/>
            <a:ext cx="199876" cy="19987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05011" y="2565053"/>
            <a:ext cx="3684984" cy="43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Content Growth Peaked Around 2018–2020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805011" y="3082156"/>
            <a:ext cx="3684984" cy="634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Netflix's most aggressive content expansion occurred during this period, coinciding with global streaming wars.</a:t>
            </a:r>
            <a:endParaRPr lang="en-US" sz="10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54004" y="2559248"/>
            <a:ext cx="199876" cy="19987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985072" y="2565053"/>
            <a:ext cx="3684984" cy="43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TV-14 and TV-MA Are the Dominant Ratings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4985072" y="3082156"/>
            <a:ext cx="3684984" cy="423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Mature and teen-oriented content drives the majority of Netflix's library, targeting adult audiences.</a:t>
            </a:r>
            <a:endParaRPr lang="en-US" sz="10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3943" y="4002509"/>
            <a:ext cx="199876" cy="19987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05011" y="4008313"/>
            <a:ext cx="3684984" cy="219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Drama and Comedy Lead by Genre</a:t>
            </a:r>
            <a:endParaRPr lang="en-US" sz="1350" dirty="0"/>
          </a:p>
        </p:txBody>
      </p:sp>
      <p:sp>
        <p:nvSpPr>
          <p:cNvPr id="19" name="Text 12"/>
          <p:cNvSpPr/>
          <p:nvPr/>
        </p:nvSpPr>
        <p:spPr>
          <a:xfrm>
            <a:off x="805011" y="4306193"/>
            <a:ext cx="3684984" cy="423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These two genres consistently appear across the highest number of titles globally.</a:t>
            </a:r>
            <a:endParaRPr lang="en-US" sz="10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54004" y="4002509"/>
            <a:ext cx="199876" cy="199876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4985072" y="4008313"/>
            <a:ext cx="3684984" cy="219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Most Movies Run 90–120 Minutes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4985072" y="4306193"/>
            <a:ext cx="3684984" cy="423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standard feature-length format remains the dominant duration across the movie catalog.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02943" y="607888"/>
            <a:ext cx="820862" cy="176808"/>
          </a:xfrm>
          <a:prstGeom prst="roundRect">
            <a:avLst>
              <a:gd name="adj" fmla="val 22115"/>
            </a:avLst>
          </a:prstGeom>
          <a:solidFill>
            <a:srgbClr val="F9D2D6"/>
          </a:solidFill>
          <a:ln/>
        </p:spPr>
      </p:sp>
      <p:sp>
        <p:nvSpPr>
          <p:cNvPr id="4" name="Text 1"/>
          <p:cNvSpPr/>
          <p:nvPr/>
        </p:nvSpPr>
        <p:spPr>
          <a:xfrm>
            <a:off x="3972744" y="642789"/>
            <a:ext cx="1138461" cy="107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CONCLUSION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3902943" y="824657"/>
            <a:ext cx="4767114" cy="382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Project Summary &amp; Takeaways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3902943" y="1357313"/>
            <a:ext cx="2333551" cy="1358950"/>
          </a:xfrm>
          <a:prstGeom prst="roundRect">
            <a:avLst>
              <a:gd name="adj" fmla="val 3597"/>
            </a:avLst>
          </a:prstGeom>
          <a:solidFill>
            <a:srgbClr val="F9D2D6"/>
          </a:solidFill>
          <a:ln w="4763">
            <a:solidFill>
              <a:srgbClr val="DFB8B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024015" y="1478384"/>
            <a:ext cx="2091407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Project Delivered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024015" y="1729755"/>
            <a:ext cx="2091407" cy="865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 complete analytics pipeline — from raw data to executive dashboard — analyzing 16,000 Netflix records across 17 dimensions.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336432" y="1357313"/>
            <a:ext cx="2333625" cy="1358950"/>
          </a:xfrm>
          <a:prstGeom prst="roundRect">
            <a:avLst>
              <a:gd name="adj" fmla="val 3597"/>
            </a:avLst>
          </a:prstGeom>
          <a:solidFill>
            <a:srgbClr val="F9D2D6"/>
          </a:solidFill>
          <a:ln w="4763">
            <a:solidFill>
              <a:srgbClr val="DFB8B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57504" y="1478384"/>
            <a:ext cx="2091482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Skills Demonstrated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57504" y="1729755"/>
            <a:ext cx="2091482" cy="6923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Python data engineering, MySQL database design, advanced SQL querying, and Power BI visualization — end to end.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902943" y="2816200"/>
            <a:ext cx="4767114" cy="839688"/>
          </a:xfrm>
          <a:prstGeom prst="roundRect">
            <a:avLst>
              <a:gd name="adj" fmla="val 5821"/>
            </a:avLst>
          </a:prstGeom>
          <a:solidFill>
            <a:srgbClr val="F9D2D6"/>
          </a:solidFill>
          <a:ln w="4763">
            <a:solidFill>
              <a:srgbClr val="DFB8B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24015" y="2937272"/>
            <a:ext cx="4524970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Business Value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024015" y="3188643"/>
            <a:ext cx="4524970" cy="3461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Actionable insights on content trends, genre distribution, and regional patterns — ready to inform content strategy decisions.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902943" y="3768328"/>
            <a:ext cx="4767114" cy="767209"/>
          </a:xfrm>
          <a:prstGeom prst="roundRect">
            <a:avLst>
              <a:gd name="adj" fmla="val 6371"/>
            </a:avLst>
          </a:prstGeom>
          <a:solidFill>
            <a:srgbClr val="F9D2D6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9252" y="3926160"/>
            <a:ext cx="145405" cy="116309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280967" y="3897288"/>
            <a:ext cx="4272781" cy="519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Thank you for your time and attention. This project was completed as part of a Data Analytics internship at </a:t>
            </a:r>
            <a:pPr algn="l" indent="0" marL="0">
              <a:lnSpc>
                <a:spcPct val="124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SkillinfyTech IT Solutions Pvt. Ltd.</a:t>
            </a:r>
            <a:pPr algn="l" indent="0" marL="0">
              <a:lnSpc>
                <a:spcPct val="12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· </a:t>
            </a:r>
            <a:pPr algn="l" indent="0" marL="0">
              <a:lnSpc>
                <a:spcPct val="124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Amey Kishor Sawatkar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2026-07-11T11:36:36Z</dcterms:created>
  <dcterms:modified xsi:type="dcterms:W3CDTF">2026-07-11T11:36:36Z</dcterms:modified>
</cp:coreProperties>
</file>